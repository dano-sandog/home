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2"/>
    <p:sldId id="257" r:id="rId3"/>
    <p:sldId id="272" r:id="rId4"/>
    <p:sldId id="259" r:id="rId5"/>
    <p:sldId id="260" r:id="rId6"/>
    <p:sldId id="261" r:id="rId7"/>
    <p:sldId id="263" r:id="rId8"/>
    <p:sldId id="262" r:id="rId9"/>
    <p:sldId id="267" r:id="rId10"/>
    <p:sldId id="268" r:id="rId11"/>
    <p:sldId id="270" r:id="rId12"/>
    <p:sldId id="271" r:id="rId13"/>
    <p:sldId id="269" r:id="rId14"/>
    <p:sldId id="266" r:id="rId15"/>
    <p:sldId id="264" r:id="rId16"/>
    <p:sldId id="265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/>
    <p:restoredTop sz="96247"/>
  </p:normalViewPr>
  <p:slideViewPr>
    <p:cSldViewPr snapToGrid="0">
      <p:cViewPr varScale="1">
        <p:scale>
          <a:sx n="116" d="100"/>
          <a:sy n="116" d="100"/>
        </p:scale>
        <p:origin x="224" y="3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37" d="100"/>
          <a:sy n="137" d="100"/>
        </p:scale>
        <p:origin x="4744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D3336E6-031E-2339-C682-0E0FB379FF6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3AAAD4-3C4E-E529-8B4C-C17DAC00206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59E6B73-38B4-6A4B-8FF1-9BAD8432C430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0BFE052-02AF-E791-3D1F-E62E1A81636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95CD34-3BCA-A338-AD31-57620FF9463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2204D5-E16A-EF44-A0B0-BB68740530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94829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23D817-71B0-444E-9B19-1858BA0EF080}" type="datetimeFigureOut">
              <a:rPr lang="en-US" smtClean="0"/>
              <a:t>3/18/25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1B641A-3955-4940-8D37-75F72F7AF0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13061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credit to Wade for the wading through logs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67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50211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Jack of all trades master of none!  Asked to do many things in a day vs Just analyze, </a:t>
            </a:r>
          </a:p>
          <a:p>
            <a:endParaRPr lang="en-US" dirty="0"/>
          </a:p>
          <a:p>
            <a:r>
              <a:rPr lang="en-US" dirty="0"/>
              <a:t>Talk about applying for jobs but not having Enough Experience in 1 discipline which works against you in job apps….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4007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73457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Don’t elaborate on Fire Dept or IVM here…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65196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Generalist's naturally lead to mgt positions.  Also great at Security Architecture.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21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Give examples of Fire Dept and Risk Register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68503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  <a:latin typeface="Helvetica Neue" panose="02000503000000020004" pitchFamily="2" charset="0"/>
              </a:rPr>
              <a:t>Education is good but experience is better!   Experience is better but Networking is best!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30976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i="1" u="none" strike="noStrike" dirty="0">
                <a:solidFill>
                  <a:srgbClr val="979797"/>
                </a:solidFill>
                <a:effectLst/>
                <a:latin typeface="Open Sans" panose="020F0502020204030204" pitchFamily="34" charset="0"/>
              </a:rPr>
              <a:t>SD ISSA: Info Systems Security Assoc, SD AITP: Association of Information Technology Professionals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60613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54721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T-Minus is a great Space Industry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03384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T-Minus is a great Space Industry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37707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727237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349322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Invitation for Questions. Reiterate the value of the generalist in shaping the future of Information Security.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2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1B641A-3955-4940-8D37-75F72F7AF021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6448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803405"/>
            <a:ext cx="9448800" cy="1825096"/>
          </a:xfrm>
        </p:spPr>
        <p:txBody>
          <a:bodyPr anchor="b">
            <a:normAutofit/>
          </a:bodyPr>
          <a:lstStyle>
            <a:lvl1pPr algn="l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32201"/>
            <a:ext cx="9448800" cy="685800"/>
          </a:xfrm>
        </p:spPr>
        <p:txBody>
          <a:bodyPr>
            <a:normAutofit/>
          </a:bodyPr>
          <a:lstStyle>
            <a:lvl1pPr marL="0" indent="0" algn="l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09561" y="4314328"/>
            <a:ext cx="2910840" cy="374642"/>
          </a:xfrm>
        </p:spPr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371600" y="4323845"/>
            <a:ext cx="6400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77200" y="1430866"/>
            <a:ext cx="2743200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>
                <a:latin typeface="Baloo 2 ExtraBold" panose="03080502040302020200" pitchFamily="66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3"/>
            <a:ext cx="10820399" cy="2801935"/>
          </a:xfrm>
        </p:spPr>
        <p:txBody>
          <a:bodyPr anchor="b">
            <a:normAutofit/>
          </a:bodyPr>
          <a:lstStyle>
            <a:lvl1pPr algn="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467" y="3641725"/>
            <a:ext cx="10490200" cy="955675"/>
          </a:xfrm>
        </p:spPr>
        <p:txBody>
          <a:bodyPr>
            <a:normAutofit/>
          </a:bodyPr>
          <a:lstStyle>
            <a:lvl1pPr marL="0" indent="0" algn="r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1"/>
            <a:ext cx="6991492" cy="36406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194559"/>
            <a:ext cx="5334000" cy="40241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600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9" y="2183802"/>
            <a:ext cx="5079991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3132666"/>
            <a:ext cx="5311775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0" y="2183802"/>
            <a:ext cx="5105400" cy="823912"/>
          </a:xfrm>
        </p:spPr>
        <p:txBody>
          <a:bodyPr anchor="b">
            <a:norm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132666"/>
            <a:ext cx="5334000" cy="30860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411480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95582" y="746759"/>
            <a:ext cx="6510618" cy="547192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411480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524000"/>
            <a:ext cx="6873240" cy="1600200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861238" y="751241"/>
            <a:ext cx="3644962" cy="5467443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124199"/>
            <a:ext cx="6873240" cy="309448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77" y="4697360"/>
            <a:ext cx="10822034" cy="81935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1727" y="941439"/>
            <a:ext cx="10821840" cy="3478161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516715"/>
            <a:ext cx="10820400" cy="701969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753532"/>
            <a:ext cx="10820400" cy="2802467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9133"/>
            <a:ext cx="10130516" cy="99906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67" y="753533"/>
            <a:ext cx="10151533" cy="2604495"/>
          </a:xfrm>
        </p:spPr>
        <p:txBody>
          <a:bodyPr anchor="ctr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303865" y="3365556"/>
            <a:ext cx="9592736" cy="4444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959862"/>
            <a:ext cx="10151533" cy="679871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81000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9941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476250" y="93345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84230" y="270129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495" y="1124701"/>
            <a:ext cx="10146186" cy="2511835"/>
          </a:xfrm>
        </p:spPr>
        <p:txBody>
          <a:bodyPr anchor="b"/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467" y="3648315"/>
            <a:ext cx="10144654" cy="99988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814452" y="378883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85800" y="378883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2895600" y="761999"/>
            <a:ext cx="8610599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800" y="2202080"/>
            <a:ext cx="3456432" cy="61732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799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8800" y="2201333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366858" y="2904067"/>
            <a:ext cx="3456432" cy="331461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51800" y="2192866"/>
            <a:ext cx="3456432" cy="626534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8051801" y="2904565"/>
            <a:ext cx="3456432" cy="331413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2895600" y="762000"/>
            <a:ext cx="8610599" cy="1295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8618" y="4191000"/>
            <a:ext cx="3451582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8618" y="2362200"/>
            <a:ext cx="3451582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8618" y="4873764"/>
            <a:ext cx="3451582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74263" y="4191000"/>
            <a:ext cx="3448935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374263" y="2362200"/>
            <a:ext cx="3448936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374264" y="4873763"/>
            <a:ext cx="344893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049731" y="4191000"/>
            <a:ext cx="3456469" cy="682765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49855" y="2362200"/>
            <a:ext cx="3447878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8049731" y="4873761"/>
            <a:ext cx="3452445" cy="1344921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2194559"/>
            <a:ext cx="10820400" cy="40241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0-HD-BT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375150"/>
            <a:ext cx="12192000" cy="248285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48800" y="745066"/>
            <a:ext cx="2057400" cy="3903133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24466" y="745067"/>
            <a:ext cx="8204201" cy="390313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814452" y="379941"/>
            <a:ext cx="2910840" cy="365125"/>
          </a:xfrm>
        </p:spPr>
        <p:txBody>
          <a:bodyPr/>
          <a:lstStyle>
            <a:lvl1pPr algn="r">
              <a:defRPr/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5800" y="381000"/>
            <a:ext cx="6991492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862452" y="381000"/>
            <a:ext cx="643748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0-HD-TOP.png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14414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895600" y="764373"/>
            <a:ext cx="8610600" cy="12930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94560"/>
            <a:ext cx="10820400" cy="40241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95360" y="6356350"/>
            <a:ext cx="291084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3/18/25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355845"/>
            <a:ext cx="7772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000" y="3810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r" defTabSz="914400" rtl="0" eaLnBrk="1" latinLnBrk="0" hangingPunct="1">
        <a:lnSpc>
          <a:spcPct val="90000"/>
        </a:lnSpc>
        <a:spcBef>
          <a:spcPct val="0"/>
        </a:spcBef>
        <a:buNone/>
        <a:defRPr sz="4000" kern="1200" cap="all" baseline="0">
          <a:solidFill>
            <a:schemeClr val="tx1"/>
          </a:solidFill>
          <a:latin typeface="Baloo 2 ExtraBold" panose="03080502040302020200" pitchFamily="66" charset="77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F595B-EACD-2061-402D-7DC7DAF4C2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6456" y="312036"/>
            <a:ext cx="12095544" cy="1232540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latin typeface="Baloo Paaji 2" panose="03080502040302020200" pitchFamily="66" charset="77"/>
                <a:ea typeface="DengXian" panose="02010600030101010101" pitchFamily="2" charset="-122"/>
                <a:cs typeface="Baloo Paaji 2" panose="03080502040302020200" pitchFamily="66" charset="77"/>
              </a:rPr>
              <a:t>Embracing the “Generalist”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F7BCAA-7558-EE94-4B5D-53A624C3A7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42134" y="1436378"/>
            <a:ext cx="11053822" cy="685800"/>
          </a:xfrm>
        </p:spPr>
        <p:txBody>
          <a:bodyPr>
            <a:normAutofit/>
          </a:bodyPr>
          <a:lstStyle/>
          <a:p>
            <a:r>
              <a:rPr lang="en-US" sz="2800" b="1" i="1" kern="100" dirty="0">
                <a:effectLst/>
                <a:latin typeface="Chalkboard SE" panose="03050602040202020205" pitchFamily="66" charset="77"/>
                <a:ea typeface="DengXian" panose="02010600030101010101" pitchFamily="2" charset="-122"/>
                <a:cs typeface="Times New Roman" panose="02020603050405020304" pitchFamily="18" charset="0"/>
              </a:rPr>
              <a:t>Dan Beaulieu, Information Security Engineer &amp; Generalist 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493A45-D74D-1A30-42A7-65CFA3E7C1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6790" y="2299580"/>
            <a:ext cx="4077832" cy="4077832"/>
          </a:xfrm>
          <a:prstGeom prst="rect">
            <a:avLst/>
          </a:prstGeom>
          <a:effectLst>
            <a:glow rad="421317">
              <a:schemeClr val="accent3">
                <a:satMod val="175000"/>
                <a:alpha val="68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35302303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8379B4-2EFE-2994-F1AB-4067BE82A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Who Am I??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A0D89-2FAC-C189-3655-A68348A32A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I’m a USMC Veteran, I worked on AV8 Harrier Jump Jets. </a:t>
            </a:r>
            <a:b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(Very Cool stuff)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38 Years in IT with experience across multiple MSPs.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8-12 Years in Information Security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SME for email security, device and patch mgt, Risk Register </a:t>
            </a:r>
            <a:b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&amp; Vulnerability Management</a:t>
            </a: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Oh did I mention I have ADHD, If I go off on any tangents </a:t>
            </a:r>
            <a:b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  (Shiny Object&gt;&gt;&gt;&gt;&gt;)</a:t>
            </a:r>
          </a:p>
        </p:txBody>
      </p:sp>
    </p:spTree>
    <p:extLst>
      <p:ext uri="{BB962C8B-B14F-4D97-AF65-F5344CB8AC3E}">
        <p14:creationId xmlns:p14="http://schemas.microsoft.com/office/powerpoint/2010/main" val="9069650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AF4F9-FD74-1809-4607-5F3A9E1C1E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1196320" cy="1293028"/>
          </a:xfrm>
        </p:spPr>
        <p:txBody>
          <a:bodyPr>
            <a:normAutofit/>
          </a:bodyPr>
          <a:lstStyle/>
          <a:p>
            <a:r>
              <a:rPr lang="en-US" dirty="0"/>
              <a:t>The Value of the InfoSec Generalist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0854CC-E66D-2E8C-B7A9-A1D7E12EED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As Information Security becomes increasingly complex, the ability to adapt, integrate, and navigate multiple domains is more important than ever. While deep expertise is critical in specialized roles, the generalist — someone who can operate across a wide array of functions — is becoming an indispensable asset. 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pPr marL="0" marR="0" indent="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None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This talk explores the evolving role of the Information Security generalist, emphasizing their ability to contribute to various areas of the field, drive cross-team collaboration, and provide strategic insight. With Information Security growing more interdisciplinary, generalists are proving to be the glue that holds complex systems and teams together.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51030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R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2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What is a generalist?</a:t>
            </a: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 lvl="1" indent="0">
              <a:lnSpc>
                <a:spcPct val="115000"/>
              </a:lnSpc>
              <a:spcBef>
                <a:spcPts val="0"/>
              </a:spcBef>
              <a:buNone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- Jack of All Trades Master of </a:t>
            </a:r>
            <a:r>
              <a:rPr lang="en-US" sz="2600" b="1" strike="sngStrike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None?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(Many!)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Why a Talk on being a Generalist?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Bridging gaps between very technical, very operational, and specific jobs/roles.</a:t>
            </a:r>
          </a:p>
          <a:p>
            <a:pPr>
              <a:lnSpc>
                <a:spcPct val="115000"/>
              </a:lnSpc>
              <a:spcBef>
                <a:spcPts val="0"/>
              </a:spcBef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9282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764373"/>
            <a:ext cx="10820400" cy="1293028"/>
          </a:xfrm>
        </p:spPr>
        <p:txBody>
          <a:bodyPr/>
          <a:lstStyle/>
          <a:p>
            <a:r>
              <a:rPr lang="en-US" dirty="0"/>
              <a:t>Comparing Generalists and Specialists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Specialists: Deep expertise in niche areas. 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Generalists: Breadth of knowledge across multiple domains. </a:t>
            </a:r>
          </a:p>
          <a:p>
            <a:pPr lvl="2">
              <a:lnSpc>
                <a:spcPct val="115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How organizations benefit from combining specialists and generalists.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Is it the Ideal Balance?</a:t>
            </a:r>
          </a:p>
        </p:txBody>
      </p:sp>
    </p:spTree>
    <p:extLst>
      <p:ext uri="{BB962C8B-B14F-4D97-AF65-F5344CB8AC3E}">
        <p14:creationId xmlns:p14="http://schemas.microsoft.com/office/powerpoint/2010/main" val="44137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6" y="764373"/>
            <a:ext cx="11344154" cy="1293028"/>
          </a:xfrm>
        </p:spPr>
        <p:txBody>
          <a:bodyPr>
            <a:normAutofit/>
          </a:bodyPr>
          <a:lstStyle/>
          <a:p>
            <a:r>
              <a:rPr lang="en-US" dirty="0"/>
              <a:t>Key Skills </a:t>
            </a:r>
            <a:b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495607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Communication &amp; Collaboration.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Breaking down silos between teams and departments.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Technical Competency.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Adaptability &amp; Lifelong Learning.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15130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20" y="764373"/>
            <a:ext cx="12039600" cy="1293028"/>
          </a:xfrm>
        </p:spPr>
        <p:txBody>
          <a:bodyPr>
            <a:normAutofit/>
          </a:bodyPr>
          <a:lstStyle/>
          <a:p>
            <a:r>
              <a:rPr lang="en-US" sz="3600" dirty="0"/>
              <a:t>The Evolving Information Security Landscape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convergence of Information Security with other fields (e.g., data science, compliance). 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Why generalists are well-positioned to adapt to unknowns. 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Need for Generalists in Leadership.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Architectural know how</a:t>
            </a:r>
          </a:p>
        </p:txBody>
      </p:sp>
    </p:spTree>
    <p:extLst>
      <p:ext uri="{BB962C8B-B14F-4D97-AF65-F5344CB8AC3E}">
        <p14:creationId xmlns:p14="http://schemas.microsoft.com/office/powerpoint/2010/main" val="22641994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764373"/>
            <a:ext cx="11877040" cy="1293028"/>
          </a:xfrm>
        </p:spPr>
        <p:txBody>
          <a:bodyPr>
            <a:normAutofit/>
          </a:bodyPr>
          <a:lstStyle/>
          <a:p>
            <a:r>
              <a:rPr lang="en-US" dirty="0"/>
              <a:t>Real-World Challenges and Success Stories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495607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Lessons from the Field: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Creation of the Internal Fire Dept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Creation of Risk Register between InfoSec and Infrastructure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Creation of Vulnerability Mgt by Regular Scanning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90151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Forever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Since Finding InfoSec, I have found an insatiable need for learning.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 spend at least 10 hours a week learning.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 go to short conferences and Meetups in the “San Angeles” area.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 usually go to a week long conference somewhere in the US.</a:t>
            </a:r>
          </a:p>
          <a:p>
            <a:pPr marL="914400" marR="0" lvl="2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3497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Places I Go (in San Diego Area)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San Diego Cyber Meetup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DefCon 858 / 619 (Rancho Bernardo)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Irvine Underground (IVU)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SD Cybersecurity Mixer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SD ISSA &amp; SD AITP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SD OWASP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Null404 (Discord Group)</a:t>
            </a:r>
          </a:p>
          <a:p>
            <a:pPr marL="1371600" lvl="3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6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795582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Places I Have Gone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1371600" lvl="3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SANS Conferences, San Diego and Las Vegas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San Diego </a:t>
            </a:r>
            <a:r>
              <a:rPr lang="en-US" sz="28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Bsides</a:t>
            </a: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Wild West Hacking Fest (Deadwood, SD)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Blackhat, Las Vegas</a:t>
            </a:r>
          </a:p>
          <a:p>
            <a:pPr lvl="3">
              <a:lnSpc>
                <a:spcPct val="115000"/>
              </a:lnSpc>
              <a:spcBef>
                <a:spcPts val="0"/>
              </a:spcBef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1371600" lvl="3" indent="0">
              <a:lnSpc>
                <a:spcPct val="115000"/>
              </a:lnSpc>
              <a:spcBef>
                <a:spcPts val="0"/>
              </a:spcBef>
              <a:buNone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endParaRPr lang="en-US" sz="26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51037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CPE’s, Continuing Professional education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799" y="2194560"/>
            <a:ext cx="11403419" cy="4024125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If you have Certifications that need renewals, you need CPE’s.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Where do I get these CPE’s?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Any conference you attend, any training, and any informational webinar that records attendance.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Keep track of these and save to a folder any certs of completion/attendance you may  receive.</a:t>
            </a:r>
            <a:endParaRPr lang="en-US" sz="26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endParaRPr lang="en-US" sz="26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75454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Places I use…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1600200"/>
            <a:ext cx="9893461" cy="5257800"/>
          </a:xfrm>
        </p:spPr>
        <p:txBody>
          <a:bodyPr>
            <a:normAutofit/>
          </a:bodyPr>
          <a:lstStyle/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ISC </a:t>
            </a: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StormCast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, Darknet Diaries, </a:t>
            </a: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Cyberwire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Daily from N2K, T-Minus(Great Podcast about Space Industry)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Talking Bout the News with Black Hills  Info Sec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Antisyphon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Training, Black Hills Info Sec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MetaCTF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and Kringle Con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Simply Cyber, Gerald Auger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Finding InfoSec Events: 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Wadingthrusecurity.com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 click SD Cyber Community</a:t>
            </a:r>
          </a:p>
          <a:p>
            <a:pPr lvl="3">
              <a:lnSpc>
                <a:spcPct val="115000"/>
              </a:lnSpc>
              <a:spcBef>
                <a:spcPts val="0"/>
              </a:spcBef>
              <a:buFontTx/>
              <a:buChar char="-"/>
            </a:pP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InfoSecMap.com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by Martin </a:t>
            </a:r>
            <a:r>
              <a:rPr lang="en-US" sz="2600" b="1" kern="100" dirty="0" err="1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Villalba</a:t>
            </a:r>
            <a:r>
              <a:rPr lang="en-US" sz="26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 built this online DB of events world wide, it’s very comprehensive!</a:t>
            </a:r>
          </a:p>
        </p:txBody>
      </p:sp>
    </p:spTree>
    <p:extLst>
      <p:ext uri="{BB962C8B-B14F-4D97-AF65-F5344CB8AC3E}">
        <p14:creationId xmlns:p14="http://schemas.microsoft.com/office/powerpoint/2010/main" val="305597716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46" y="764373"/>
            <a:ext cx="11344154" cy="1293028"/>
          </a:xfrm>
        </p:spPr>
        <p:txBody>
          <a:bodyPr>
            <a:normAutofit/>
          </a:bodyPr>
          <a:lstStyle/>
          <a:p>
            <a:r>
              <a:rPr lang="en-US" dirty="0"/>
              <a:t>Keeping Up with the Jones?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495607"/>
          </a:xfrm>
        </p:spPr>
        <p:txBody>
          <a:bodyPr>
            <a:normAutofit/>
          </a:bodyPr>
          <a:lstStyle/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Avoiding burnout while balancing breadth with sufficient depth.  </a:t>
            </a:r>
          </a:p>
          <a:p>
            <a:pPr marL="1143000" marR="0" lvl="2" indent="-228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Driving Innovation and Integration.</a:t>
            </a:r>
          </a:p>
          <a:p>
            <a:pPr lvl="2">
              <a:lnSpc>
                <a:spcPct val="115000"/>
              </a:lnSpc>
              <a:spcBef>
                <a:spcPts val="0"/>
              </a:spcBef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Strategies for staying ahead in a rapidly evolving field.</a:t>
            </a:r>
          </a:p>
          <a:p>
            <a:pPr marL="914400" marR="0" lvl="2" indent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800" b="1" kern="100" dirty="0"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58582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Key Takeaways  </a:t>
            </a:r>
            <a:b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Summary of Discussion Points:  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indispensable role of generalists in Information Security.  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balance between specialists and generalists in a robust team.  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The importance of adaptability and integration.  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	Encouraging organizations and individuals to embrace the generalist mindset.  </a:t>
            </a:r>
          </a:p>
        </p:txBody>
      </p:sp>
    </p:spTree>
    <p:extLst>
      <p:ext uri="{BB962C8B-B14F-4D97-AF65-F5344CB8AC3E}">
        <p14:creationId xmlns:p14="http://schemas.microsoft.com/office/powerpoint/2010/main" val="10712514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51669-F286-D818-DBC3-7AF245F2F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38896" y="764373"/>
            <a:ext cx="11645096" cy="1293028"/>
          </a:xfrm>
        </p:spPr>
        <p:txBody>
          <a:bodyPr/>
          <a:lstStyle/>
          <a:p>
            <a:r>
              <a:rPr lang="en-US" dirty="0"/>
              <a:t>Q&amp;A &amp; Closing Remarks  </a:t>
            </a:r>
            <a:br>
              <a:rPr lang="en-US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502E11-8380-1A2D-FDDA-47C808B70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194560"/>
            <a:ext cx="9893461" cy="4024125"/>
          </a:xfrm>
        </p:spPr>
        <p:txBody>
          <a:bodyPr>
            <a:normAutofit/>
          </a:bodyPr>
          <a:lstStyle/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Open the floor to audience questions.  </a:t>
            </a:r>
          </a:p>
          <a:p>
            <a:pPr marL="742950" marR="0" lvl="1" indent="-2857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Font typeface="Symbol" pitchFamily="2" charset="2"/>
              <a:buChar char=""/>
            </a:pPr>
            <a:r>
              <a:rPr lang="en-US" sz="2800" b="1" kern="100" dirty="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Closing Remarks</a:t>
            </a:r>
          </a:p>
        </p:txBody>
      </p:sp>
    </p:spTree>
    <p:extLst>
      <p:ext uri="{BB962C8B-B14F-4D97-AF65-F5344CB8AC3E}">
        <p14:creationId xmlns:p14="http://schemas.microsoft.com/office/powerpoint/2010/main" val="371286812"/>
      </p:ext>
    </p:extLst>
  </p:cSld>
  <p:clrMapOvr>
    <a:masterClrMapping/>
  </p:clrMapOvr>
</p:sld>
</file>

<file path=ppt/theme/theme1.xml><?xml version="1.0" encoding="utf-8"?>
<a:theme xmlns:a="http://schemas.openxmlformats.org/drawingml/2006/main" name="Vapor Trail">
  <a:themeElements>
    <a:clrScheme name="Vapor Trail">
      <a:dk1>
        <a:sysClr val="windowText" lastClr="000000"/>
      </a:dk1>
      <a:lt1>
        <a:sysClr val="window" lastClr="FFFFFF"/>
      </a:lt1>
      <a:dk2>
        <a:srgbClr val="454545"/>
      </a:dk2>
      <a:lt2>
        <a:srgbClr val="DADADA"/>
      </a:lt2>
      <a:accent1>
        <a:srgbClr val="DF2E28"/>
      </a:accent1>
      <a:accent2>
        <a:srgbClr val="FE801A"/>
      </a:accent2>
      <a:accent3>
        <a:srgbClr val="E9BF35"/>
      </a:accent3>
      <a:accent4>
        <a:srgbClr val="81BB42"/>
      </a:accent4>
      <a:accent5>
        <a:srgbClr val="32C7A9"/>
      </a:accent5>
      <a:accent6>
        <a:srgbClr val="4A9BDC"/>
      </a:accent6>
      <a:hlink>
        <a:srgbClr val="F0532B"/>
      </a:hlink>
      <a:folHlink>
        <a:srgbClr val="F38B53"/>
      </a:folHlink>
    </a:clrScheme>
    <a:fontScheme name="Vapor Trail">
      <a:maj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Vapor Trail">
      <a:fillStyleLst>
        <a:solidFill>
          <a:schemeClr val="phClr"/>
        </a:solidFill>
        <a:gradFill rotWithShape="1">
          <a:gsLst>
            <a:gs pos="0">
              <a:schemeClr val="phClr">
                <a:tint val="69000"/>
                <a:alpha val="100000"/>
                <a:satMod val="109000"/>
                <a:lumMod val="110000"/>
              </a:schemeClr>
            </a:gs>
            <a:gs pos="52000">
              <a:schemeClr val="phClr">
                <a:tint val="74000"/>
                <a:satMod val="100000"/>
                <a:lumMod val="104000"/>
              </a:schemeClr>
            </a:gs>
            <a:gs pos="100000">
              <a:schemeClr val="phClr">
                <a:tint val="78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satMod val="100000"/>
                <a:lumMod val="104000"/>
              </a:schemeClr>
            </a:gs>
            <a:gs pos="78000">
              <a:schemeClr val="phClr">
                <a:shade val="100000"/>
                <a:satMod val="11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/>
          </a:scene3d>
          <a:sp3d>
            <a:bevelT w="25400" h="12700"/>
          </a:sp3d>
        </a:effectStyle>
        <a:effectStyle>
          <a:effectLst>
            <a:outerShdw blurRad="57150" dist="19050" dir="5400000" algn="ctr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por Trail" id="{4FDF2955-7D9C-493C-B9F9-C205151B46CD}" vid="{8F31A783-2159-4870-BC29-2BA7D038EA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Vapor Trail</Template>
  <TotalTime>7874</TotalTime>
  <Words>890</Words>
  <Application>Microsoft Macintosh PowerPoint</Application>
  <PresentationFormat>Widescreen</PresentationFormat>
  <Paragraphs>114</Paragraphs>
  <Slides>16</Slides>
  <Notes>15</Notes>
  <HiddenSlides>2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7" baseType="lpstr">
      <vt:lpstr>Aptos</vt:lpstr>
      <vt:lpstr>Arial</vt:lpstr>
      <vt:lpstr>Baloo 2 ExtraBold</vt:lpstr>
      <vt:lpstr>Baloo Paaji 2</vt:lpstr>
      <vt:lpstr>Calibri</vt:lpstr>
      <vt:lpstr>Century Gothic</vt:lpstr>
      <vt:lpstr>Chalkboard SE</vt:lpstr>
      <vt:lpstr>Helvetica Neue</vt:lpstr>
      <vt:lpstr>Open Sans</vt:lpstr>
      <vt:lpstr>Symbol</vt:lpstr>
      <vt:lpstr>Vapor Trail</vt:lpstr>
      <vt:lpstr>Embracing the “Generalist”</vt:lpstr>
      <vt:lpstr>Who Am I??</vt:lpstr>
      <vt:lpstr>The Value of the InfoSec Generalist  </vt:lpstr>
      <vt:lpstr>Introduction</vt:lpstr>
      <vt:lpstr>Comparing Generalists and Specialists</vt:lpstr>
      <vt:lpstr>Key Skills  </vt:lpstr>
      <vt:lpstr>The Evolving Information Security Landscape </vt:lpstr>
      <vt:lpstr>Real-World Challenges and Success Stories </vt:lpstr>
      <vt:lpstr>Forever Learning</vt:lpstr>
      <vt:lpstr>Places I Go (in San Diego Area)</vt:lpstr>
      <vt:lpstr>Places I Have Gone</vt:lpstr>
      <vt:lpstr>CPE’s, Continuing Professional education</vt:lpstr>
      <vt:lpstr>Places I use…</vt:lpstr>
      <vt:lpstr>Keeping Up with the Jones?</vt:lpstr>
      <vt:lpstr>Key Takeaways   </vt:lpstr>
      <vt:lpstr>Q&amp;A &amp; Closing Remarks 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INFORMATION security:  Embracing the Generalist</dc:title>
  <dc:creator>Dan Beaulieu</dc:creator>
  <cp:lastModifiedBy>Dan Beaulieu</cp:lastModifiedBy>
  <cp:revision>27</cp:revision>
  <dcterms:created xsi:type="dcterms:W3CDTF">2024-11-15T18:32:54Z</dcterms:created>
  <dcterms:modified xsi:type="dcterms:W3CDTF">2025-03-19T01:17:08Z</dcterms:modified>
</cp:coreProperties>
</file>